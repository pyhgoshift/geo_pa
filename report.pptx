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기관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3294B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0AA6A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E08A1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교육지원청</c:v>
                </c:pt>
                <c:pt idx="1">
                  <c:v>직속기관</c:v>
                </c:pt>
                <c:pt idx="2">
                  <c:v>본청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28</c:v>
                </c:pt>
                <c:pt idx="1">
                  <c:v>15</c:v>
                </c:pt>
                <c:pt idx="2">
                  <c:v>14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선택수</c:v>
                </c:pt>
              </c:strCache>
            </c:strRef>
          </c:tx>
          <c:spPr>
            <a:solidFill>
              <a:srgbClr val="0AA6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C27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데이터기반행정</c:v>
                  </c:pt>
                  <c:pt idx="1">
                    <c:v>가용성 확보</c:v>
                  </c:pt>
                  <c:pt idx="2">
                    <c:v>예산 절감</c:v>
                  </c:pt>
                  <c:pt idx="3">
                    <c:v>업무 경감</c:v>
                  </c:pt>
                  <c:pt idx="4">
                    <c:v>장애 대응</c:v>
                  </c:pt>
                  <c:pt idx="5">
                    <c:v>보안 강화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20</c:v>
                </c:pt>
                <c:pt idx="2">
                  <c:v>33</c:v>
                </c:pt>
                <c:pt idx="3">
                  <c:v>35</c:v>
                </c:pt>
                <c:pt idx="4">
                  <c:v>37</c:v>
                </c:pt>
                <c:pt idx="5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C27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C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486400" cy="5486400"/>
          </a:xfrm>
          <a:prstGeom prst="ellipse">
            <a:avLst/>
          </a:prstGeom>
          <a:solidFill>
            <a:srgbClr val="0AA6A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291840"/>
            <a:ext cx="4572000" cy="4572000"/>
          </a:xfrm>
          <a:prstGeom prst="ellipse">
            <a:avLst/>
          </a:prstGeom>
          <a:solidFill>
            <a:srgbClr val="13294B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경기도교육청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정보자원 통합 성과 및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이전·통합 만족도 조사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41248" y="3429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응답 현황 일일 리포트  ·  집계일 2026. 6. 26. 09:00  ·  응답기간 6.22~6.25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242316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262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A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57건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22960" y="52303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4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응답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520440" y="4343400"/>
            <a:ext cx="242316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45262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A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520440" y="52303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4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 인지율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4343400"/>
            <a:ext cx="242316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45262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A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4.62/5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217920" y="52303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4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전반 만족도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915400" y="4343400"/>
            <a:ext cx="2423160" cy="1417320"/>
          </a:xfrm>
          <a:prstGeom prst="roundRect">
            <a:avLst>
              <a:gd name="adj" fmla="val 774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15400" y="45262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8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915400" y="52303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4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강화 최우선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핵심 지표 요약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추진 성과 요약 — 데이터 기반 점검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0574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A7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pPr algn="ctr" indent="0" marL="0">
              <a:buNone/>
            </a:pPr>
            <a:r>
              <a:rPr lang="en-US" sz="20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응답 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78308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20574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pPr algn="ctr" indent="0" marL="0">
              <a:buNone/>
            </a:pPr>
            <a:r>
              <a:rPr lang="en-US" sz="20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3520440" y="3063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사업 인지율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78308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20574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A7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4.62</a:t>
            </a:r>
            <a:pPr algn="ctr" indent="0" marL="0">
              <a:buNone/>
            </a:pPr>
            <a:r>
              <a:rPr lang="en-US" sz="20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/5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6263640" y="3063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추진과정 전반 만족도 (n=40)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69680" y="178308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15400" y="20574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98.2</a:t>
            </a:r>
            <a:pPr algn="ctr" indent="0" marL="0">
              <a:buNone/>
            </a:pPr>
            <a:r>
              <a:rPr lang="en-US" sz="20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9006840" y="3063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 전담관리 전환 인지 (56/57)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10927080" cy="1417320"/>
          </a:xfrm>
          <a:prstGeom prst="roundRect">
            <a:avLst>
              <a:gd name="adj" fmla="val 5161"/>
            </a:avLst>
          </a:prstGeom>
          <a:solidFill>
            <a:srgbClr val="E8F6F5"/>
          </a:solidFill>
          <a:ln w="12700">
            <a:solidFill>
              <a:srgbClr val="BFE5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480560"/>
            <a:ext cx="10378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A7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읽는 법 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전반 만족도는 ‘통합 대상 시스템 관련자’ 40명 응답 기준 (매우만족 25·만족 15·불만족 0). 응답자 다수가 운영·추진에 가까운 집단이라 </a:t>
            </a:r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‘자기평가’ 성격이 강한 점을 함께 볼 것.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643737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경기도교육청 교육정보기록원  ·  정보자원 통합 만족도 일일 보고  ·  2026. 6. 26. 09:00 기준 (응답 57건)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응답자 구성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표본은 ‘전산·실무 담당자’ 중심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기관 유형  (n=57)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2377440"/>
          <a:ext cx="30175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3931920" y="30632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3294B"/>
          </a:solidFill>
          <a:ln/>
        </p:spPr>
      </p:sp>
      <p:sp>
        <p:nvSpPr>
          <p:cNvPr id="8" name="Text 5"/>
          <p:cNvSpPr/>
          <p:nvPr/>
        </p:nvSpPr>
        <p:spPr>
          <a:xfrm>
            <a:off x="4224528" y="29992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교육지원청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206240" y="29992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· 49%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931920" y="35661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0AA6A0"/>
          </a:solidFill>
          <a:ln/>
        </p:spPr>
      </p:sp>
      <p:sp>
        <p:nvSpPr>
          <p:cNvPr id="11" name="Text 8"/>
          <p:cNvSpPr/>
          <p:nvPr/>
        </p:nvSpPr>
        <p:spPr>
          <a:xfrm>
            <a:off x="4224528" y="35021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직속기관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206240" y="35021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26%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931920" y="40690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08A1E"/>
          </a:solidFill>
          <a:ln/>
        </p:spPr>
      </p:sp>
      <p:sp>
        <p:nvSpPr>
          <p:cNvPr id="14" name="Text 11"/>
          <p:cNvSpPr/>
          <p:nvPr/>
        </p:nvSpPr>
        <p:spPr>
          <a:xfrm>
            <a:off x="4224528" y="400507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본청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206240" y="40050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25%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80760" y="1783080"/>
            <a:ext cx="548640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35508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직군 · 직급 분포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355080" y="25420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전산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7818120" y="2569464"/>
            <a:ext cx="3200400" cy="292608"/>
          </a:xfrm>
          <a:prstGeom prst="roundRect">
            <a:avLst>
              <a:gd name="adj" fmla="val 15625"/>
            </a:avLst>
          </a:prstGeom>
          <a:solidFill>
            <a:srgbClr val="EEF1F6"/>
          </a:solidFill>
          <a:ln/>
        </p:spPr>
      </p:sp>
      <p:sp>
        <p:nvSpPr>
          <p:cNvPr id="20" name="Shape 17"/>
          <p:cNvSpPr/>
          <p:nvPr/>
        </p:nvSpPr>
        <p:spPr>
          <a:xfrm>
            <a:off x="7818120" y="2569464"/>
            <a:ext cx="2752344" cy="292608"/>
          </a:xfrm>
          <a:prstGeom prst="roundRect">
            <a:avLst>
              <a:gd name="adj" fmla="val 15625"/>
            </a:avLst>
          </a:prstGeom>
          <a:solidFill>
            <a:srgbClr val="0AA6A0"/>
          </a:solidFill>
          <a:ln/>
        </p:spPr>
      </p:sp>
      <p:sp>
        <p:nvSpPr>
          <p:cNvPr id="21" name="Text 18"/>
          <p:cNvSpPr/>
          <p:nvPr/>
        </p:nvSpPr>
        <p:spPr>
          <a:xfrm>
            <a:off x="11064240" y="25420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49명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355080" y="31821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교육행정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818120" y="3209544"/>
            <a:ext cx="3200400" cy="292608"/>
          </a:xfrm>
          <a:prstGeom prst="roundRect">
            <a:avLst>
              <a:gd name="adj" fmla="val 15625"/>
            </a:avLst>
          </a:prstGeom>
          <a:solidFill>
            <a:srgbClr val="EEF1F6"/>
          </a:solidFill>
          <a:ln/>
        </p:spPr>
      </p:sp>
      <p:sp>
        <p:nvSpPr>
          <p:cNvPr id="24" name="Shape 21"/>
          <p:cNvSpPr/>
          <p:nvPr/>
        </p:nvSpPr>
        <p:spPr>
          <a:xfrm>
            <a:off x="7818120" y="3209544"/>
            <a:ext cx="393649" cy="292608"/>
          </a:xfrm>
          <a:prstGeom prst="roundRect">
            <a:avLst>
              <a:gd name="adj" fmla="val 15625"/>
            </a:avLst>
          </a:prstGeom>
          <a:solidFill>
            <a:srgbClr val="0AA6A0"/>
          </a:solidFill>
          <a:ln/>
        </p:spPr>
      </p:sp>
      <p:sp>
        <p:nvSpPr>
          <p:cNvPr id="25" name="Text 22"/>
          <p:cNvSpPr/>
          <p:nvPr/>
        </p:nvSpPr>
        <p:spPr>
          <a:xfrm>
            <a:off x="11064240" y="318211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7명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355080" y="382219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6급 이하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818120" y="3849624"/>
            <a:ext cx="3200400" cy="292608"/>
          </a:xfrm>
          <a:prstGeom prst="roundRect">
            <a:avLst>
              <a:gd name="adj" fmla="val 15625"/>
            </a:avLst>
          </a:prstGeom>
          <a:solidFill>
            <a:srgbClr val="EEF1F6"/>
          </a:solidFill>
          <a:ln/>
        </p:spPr>
      </p:sp>
      <p:sp>
        <p:nvSpPr>
          <p:cNvPr id="28" name="Shape 25"/>
          <p:cNvSpPr/>
          <p:nvPr/>
        </p:nvSpPr>
        <p:spPr>
          <a:xfrm>
            <a:off x="7818120" y="3849624"/>
            <a:ext cx="2864358" cy="292608"/>
          </a:xfrm>
          <a:prstGeom prst="roundRect">
            <a:avLst>
              <a:gd name="adj" fmla="val 15625"/>
            </a:avLst>
          </a:prstGeom>
          <a:solidFill>
            <a:srgbClr val="13294B"/>
          </a:solidFill>
          <a:ln/>
        </p:spPr>
      </p:sp>
      <p:sp>
        <p:nvSpPr>
          <p:cNvPr id="29" name="Text 26"/>
          <p:cNvSpPr/>
          <p:nvPr/>
        </p:nvSpPr>
        <p:spPr>
          <a:xfrm>
            <a:off x="11064240" y="38221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51명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355080" y="44622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5급 이상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7818120" y="4489704"/>
            <a:ext cx="3200400" cy="292608"/>
          </a:xfrm>
          <a:prstGeom prst="roundRect">
            <a:avLst>
              <a:gd name="adj" fmla="val 15625"/>
            </a:avLst>
          </a:prstGeom>
          <a:solidFill>
            <a:srgbClr val="EEF1F6"/>
          </a:solidFill>
          <a:ln/>
        </p:spPr>
      </p:sp>
      <p:sp>
        <p:nvSpPr>
          <p:cNvPr id="32" name="Shape 29"/>
          <p:cNvSpPr/>
          <p:nvPr/>
        </p:nvSpPr>
        <p:spPr>
          <a:xfrm>
            <a:off x="7818120" y="4489704"/>
            <a:ext cx="281635" cy="292608"/>
          </a:xfrm>
          <a:prstGeom prst="roundRect">
            <a:avLst>
              <a:gd name="adj" fmla="val 16234"/>
            </a:avLst>
          </a:prstGeom>
          <a:solidFill>
            <a:srgbClr val="13294B"/>
          </a:solidFill>
          <a:ln/>
        </p:spPr>
      </p:sp>
      <p:sp>
        <p:nvSpPr>
          <p:cNvPr id="33" name="Text 30"/>
          <p:cNvSpPr/>
          <p:nvPr/>
        </p:nvSpPr>
        <p:spPr>
          <a:xfrm>
            <a:off x="11064240" y="44622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5명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355080" y="5074920"/>
            <a:ext cx="4983480" cy="566928"/>
          </a:xfrm>
          <a:prstGeom prst="roundRect">
            <a:avLst>
              <a:gd name="adj" fmla="val 9677"/>
            </a:avLst>
          </a:prstGeom>
          <a:solidFill>
            <a:srgbClr val="FDF3E2"/>
          </a:solidFill>
          <a:ln/>
        </p:spPr>
      </p:sp>
      <p:sp>
        <p:nvSpPr>
          <p:cNvPr id="35" name="Text 32"/>
          <p:cNvSpPr/>
          <p:nvPr/>
        </p:nvSpPr>
        <p:spPr>
          <a:xfrm>
            <a:off x="6537960" y="507492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 점검  </a:t>
            </a:r>
            <a:pPr indent="0" marL="0"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공급·운영 측 시각이 다수 — 현업 일반 사용자·관리자급 의견은 별도 확인 필요.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640080" y="643737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경기도교육청 교육정보기록원  ·  정보자원 통합 만족도 일일 보고  ·  2026. 6. 26. 09:00 기준 (응답 57건)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전환·통합 만족도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영역별 만족도 — 표본 규모 함께 확인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57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 통합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A7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4.40</a:t>
            </a:r>
            <a:pPr indent="0" marL="0">
              <a:buNone/>
            </a:pPr>
            <a:r>
              <a:rPr lang="en-US" sz="18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/5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960120" y="3794760"/>
            <a:ext cx="2788920" cy="146304"/>
          </a:xfrm>
          <a:prstGeom prst="roundRect">
            <a:avLst>
              <a:gd name="adj" fmla="val 18750"/>
            </a:avLst>
          </a:prstGeom>
          <a:solidFill>
            <a:srgbClr val="EEF1F6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3794760"/>
            <a:ext cx="2454250" cy="146304"/>
          </a:xfrm>
          <a:prstGeom prst="roundRect">
            <a:avLst>
              <a:gd name="adj" fmla="val 18750"/>
            </a:avLst>
          </a:prstGeom>
          <a:solidFill>
            <a:srgbClr val="0AA6A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40416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19명  </a:t>
            </a:r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다문항 평균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82880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2057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MSA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 개발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17720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A7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4.80</a:t>
            </a:r>
            <a:pPr indent="0" marL="0">
              <a:buNone/>
            </a:pPr>
            <a:r>
              <a:rPr lang="en-US" sz="18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/5</a:t>
            </a:r>
            <a:endParaRPr lang="en-US" sz="4600" dirty="0"/>
          </a:p>
        </p:txBody>
      </p:sp>
      <p:sp>
        <p:nvSpPr>
          <p:cNvPr id="15" name="Shape 13"/>
          <p:cNvSpPr/>
          <p:nvPr/>
        </p:nvSpPr>
        <p:spPr>
          <a:xfrm>
            <a:off x="4663440" y="3794760"/>
            <a:ext cx="2788920" cy="146304"/>
          </a:xfrm>
          <a:prstGeom prst="roundRect">
            <a:avLst>
              <a:gd name="adj" fmla="val 18750"/>
            </a:avLst>
          </a:prstGeom>
          <a:solidFill>
            <a:srgbClr val="EEF1F6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3794760"/>
            <a:ext cx="2677363" cy="146304"/>
          </a:xfrm>
          <a:prstGeom prst="roundRect">
            <a:avLst>
              <a:gd name="adj" fmla="val 18750"/>
            </a:avLst>
          </a:prstGeom>
          <a:solidFill>
            <a:srgbClr val="0AA6A0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40416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4명  </a:t>
            </a:r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표본 소수, 참고치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1828800"/>
            <a:ext cx="34290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66760" y="2057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CMS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6676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홈페이지 전환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21040" y="28803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A7D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4.80</a:t>
            </a:r>
            <a:pPr indent="0" marL="0">
              <a:buNone/>
            </a:pPr>
            <a:r>
              <a:rPr lang="en-US" sz="18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/5</a:t>
            </a:r>
            <a:endParaRPr lang="en-US" sz="4600" dirty="0"/>
          </a:p>
        </p:txBody>
      </p:sp>
      <p:sp>
        <p:nvSpPr>
          <p:cNvPr id="22" name="Shape 20"/>
          <p:cNvSpPr/>
          <p:nvPr/>
        </p:nvSpPr>
        <p:spPr>
          <a:xfrm>
            <a:off x="8366760" y="3794760"/>
            <a:ext cx="2788920" cy="146304"/>
          </a:xfrm>
          <a:prstGeom prst="roundRect">
            <a:avLst>
              <a:gd name="adj" fmla="val 18750"/>
            </a:avLst>
          </a:prstGeom>
          <a:solidFill>
            <a:srgbClr val="EEF1F6"/>
          </a:solidFill>
          <a:ln/>
        </p:spPr>
      </p:sp>
      <p:sp>
        <p:nvSpPr>
          <p:cNvPr id="23" name="Shape 21"/>
          <p:cNvSpPr/>
          <p:nvPr/>
        </p:nvSpPr>
        <p:spPr>
          <a:xfrm>
            <a:off x="8366760" y="3794760"/>
            <a:ext cx="2677363" cy="146304"/>
          </a:xfrm>
          <a:prstGeom prst="roundRect">
            <a:avLst>
              <a:gd name="adj" fmla="val 18750"/>
            </a:avLst>
          </a:prstGeom>
          <a:solidFill>
            <a:srgbClr val="0AA6A0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760" y="40416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7명  </a:t>
            </a:r>
            <a:pPr indent="0" marL="0">
              <a:buNone/>
            </a:pPr>
            <a:r>
              <a:rPr lang="en-US" sz="11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표본 소수, 참고치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937760"/>
            <a:ext cx="11018520" cy="777240"/>
          </a:xfrm>
          <a:prstGeom prst="roundRect">
            <a:avLst>
              <a:gd name="adj" fmla="val 8235"/>
            </a:avLst>
          </a:prstGeom>
          <a:solidFill>
            <a:srgbClr val="FDF3E2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9377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  </a:t>
            </a:r>
            <a:pPr indent="0" marL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10명 미만 영역은 대상기관 담당자만 응답한 ‘한정 참고치’ — 전체 사업 성과로 일반화하지 말 것.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643737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경기도교육청 교육정보기록원  ·  정보자원 통합 만족도 일일 보고  ·  2026. 6. 26. 09:00 기준 (응답 57건)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통합 기대효과 · 우선순위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기대 쏠림 점검 — 데이터기반행정은 최하위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4068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기대되는 효과 (복수선택)</a:t>
            </a:r>
            <a:endParaRPr lang="en-US" sz="14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2423160"/>
          <a:ext cx="5212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263640" y="1783080"/>
            <a:ext cx="53035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3796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항목별 우선순위 ‘상’ 비율 (n=57)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537960" y="24505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강화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321040" y="2468880"/>
            <a:ext cx="2606040" cy="274320"/>
          </a:xfrm>
          <a:prstGeom prst="roundRect">
            <a:avLst>
              <a:gd name="adj" fmla="val 16667"/>
            </a:avLst>
          </a:prstGeom>
          <a:solidFill>
            <a:srgbClr val="EEF1F6"/>
          </a:solidFill>
          <a:ln/>
        </p:spPr>
      </p:sp>
      <p:sp>
        <p:nvSpPr>
          <p:cNvPr id="11" name="Shape 8"/>
          <p:cNvSpPr/>
          <p:nvPr/>
        </p:nvSpPr>
        <p:spPr>
          <a:xfrm>
            <a:off x="8321040" y="2468880"/>
            <a:ext cx="2423617" cy="274320"/>
          </a:xfrm>
          <a:prstGeom prst="roundRect">
            <a:avLst>
              <a:gd name="adj" fmla="val 16667"/>
            </a:avLst>
          </a:prstGeom>
          <a:solidFill>
            <a:srgbClr val="13294B"/>
          </a:solidFill>
          <a:ln/>
        </p:spPr>
      </p:sp>
      <p:sp>
        <p:nvSpPr>
          <p:cNvPr id="12" name="Text 9"/>
          <p:cNvSpPr/>
          <p:nvPr/>
        </p:nvSpPr>
        <p:spPr>
          <a:xfrm>
            <a:off x="10954512" y="245059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537960" y="29077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장애 대응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321040" y="2926080"/>
            <a:ext cx="2606040" cy="274320"/>
          </a:xfrm>
          <a:prstGeom prst="roundRect">
            <a:avLst>
              <a:gd name="adj" fmla="val 16667"/>
            </a:avLst>
          </a:prstGeom>
          <a:solidFill>
            <a:srgbClr val="EEF1F6"/>
          </a:solidFill>
          <a:ln/>
        </p:spPr>
      </p:sp>
      <p:sp>
        <p:nvSpPr>
          <p:cNvPr id="15" name="Shape 12"/>
          <p:cNvSpPr/>
          <p:nvPr/>
        </p:nvSpPr>
        <p:spPr>
          <a:xfrm>
            <a:off x="8321040" y="2926080"/>
            <a:ext cx="2285497" cy="274320"/>
          </a:xfrm>
          <a:prstGeom prst="roundRect">
            <a:avLst>
              <a:gd name="adj" fmla="val 16667"/>
            </a:avLst>
          </a:prstGeom>
          <a:solidFill>
            <a:srgbClr val="13294B"/>
          </a:solidFill>
          <a:ln/>
        </p:spPr>
      </p:sp>
      <p:sp>
        <p:nvSpPr>
          <p:cNvPr id="16" name="Text 13"/>
          <p:cNvSpPr/>
          <p:nvPr/>
        </p:nvSpPr>
        <p:spPr>
          <a:xfrm>
            <a:off x="10954512" y="290779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87.7%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537960" y="33649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 절감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321040" y="3383280"/>
            <a:ext cx="2606040" cy="274320"/>
          </a:xfrm>
          <a:prstGeom prst="roundRect">
            <a:avLst>
              <a:gd name="adj" fmla="val 16667"/>
            </a:avLst>
          </a:prstGeom>
          <a:solidFill>
            <a:srgbClr val="EEF1F6"/>
          </a:solidFill>
          <a:ln/>
        </p:spPr>
      </p:sp>
      <p:sp>
        <p:nvSpPr>
          <p:cNvPr id="19" name="Shape 16"/>
          <p:cNvSpPr/>
          <p:nvPr/>
        </p:nvSpPr>
        <p:spPr>
          <a:xfrm>
            <a:off x="8321040" y="3383280"/>
            <a:ext cx="2194286" cy="274320"/>
          </a:xfrm>
          <a:prstGeom prst="roundRect">
            <a:avLst>
              <a:gd name="adj" fmla="val 16667"/>
            </a:avLst>
          </a:prstGeom>
          <a:solidFill>
            <a:srgbClr val="13294B"/>
          </a:solidFill>
          <a:ln/>
        </p:spPr>
      </p:sp>
      <p:sp>
        <p:nvSpPr>
          <p:cNvPr id="20" name="Text 17"/>
          <p:cNvSpPr/>
          <p:nvPr/>
        </p:nvSpPr>
        <p:spPr>
          <a:xfrm>
            <a:off x="10954512" y="336499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84.2%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537960" y="3822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가용성 확보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321040" y="3840480"/>
            <a:ext cx="2606040" cy="274320"/>
          </a:xfrm>
          <a:prstGeom prst="roundRect">
            <a:avLst>
              <a:gd name="adj" fmla="val 16667"/>
            </a:avLst>
          </a:prstGeom>
          <a:solidFill>
            <a:srgbClr val="EEF1F6"/>
          </a:solidFill>
          <a:ln/>
        </p:spPr>
      </p:sp>
      <p:sp>
        <p:nvSpPr>
          <p:cNvPr id="23" name="Shape 20"/>
          <p:cNvSpPr/>
          <p:nvPr/>
        </p:nvSpPr>
        <p:spPr>
          <a:xfrm>
            <a:off x="8321040" y="3840480"/>
            <a:ext cx="2103074" cy="274320"/>
          </a:xfrm>
          <a:prstGeom prst="roundRect">
            <a:avLst>
              <a:gd name="adj" fmla="val 16667"/>
            </a:avLst>
          </a:prstGeom>
          <a:solidFill>
            <a:srgbClr val="13294B"/>
          </a:solidFill>
          <a:ln/>
        </p:spPr>
      </p:sp>
      <p:sp>
        <p:nvSpPr>
          <p:cNvPr id="24" name="Text 21"/>
          <p:cNvSpPr/>
          <p:nvPr/>
        </p:nvSpPr>
        <p:spPr>
          <a:xfrm>
            <a:off x="10954512" y="382219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80.7%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537960" y="42793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경감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321040" y="4297680"/>
            <a:ext cx="2606040" cy="274320"/>
          </a:xfrm>
          <a:prstGeom prst="roundRect">
            <a:avLst>
              <a:gd name="adj" fmla="val 16667"/>
            </a:avLst>
          </a:prstGeom>
          <a:solidFill>
            <a:srgbClr val="EEF1F6"/>
          </a:solidFill>
          <a:ln/>
        </p:spPr>
      </p:sp>
      <p:sp>
        <p:nvSpPr>
          <p:cNvPr id="27" name="Shape 24"/>
          <p:cNvSpPr/>
          <p:nvPr/>
        </p:nvSpPr>
        <p:spPr>
          <a:xfrm>
            <a:off x="8321040" y="4297680"/>
            <a:ext cx="2056166" cy="274320"/>
          </a:xfrm>
          <a:prstGeom prst="roundRect">
            <a:avLst>
              <a:gd name="adj" fmla="val 16667"/>
            </a:avLst>
          </a:prstGeom>
          <a:solidFill>
            <a:srgbClr val="13294B"/>
          </a:solidFill>
          <a:ln/>
        </p:spPr>
      </p:sp>
      <p:sp>
        <p:nvSpPr>
          <p:cNvPr id="28" name="Text 25"/>
          <p:cNvSpPr/>
          <p:nvPr/>
        </p:nvSpPr>
        <p:spPr>
          <a:xfrm>
            <a:off x="10954512" y="427939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78.9%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537960" y="47365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데이터기반행정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321040" y="4754880"/>
            <a:ext cx="2606040" cy="274320"/>
          </a:xfrm>
          <a:prstGeom prst="roundRect">
            <a:avLst>
              <a:gd name="adj" fmla="val 16667"/>
            </a:avLst>
          </a:prstGeom>
          <a:solidFill>
            <a:srgbClr val="EEF1F6"/>
          </a:solidFill>
          <a:ln/>
        </p:spPr>
      </p:sp>
      <p:sp>
        <p:nvSpPr>
          <p:cNvPr id="31" name="Shape 28"/>
          <p:cNvSpPr/>
          <p:nvPr/>
        </p:nvSpPr>
        <p:spPr>
          <a:xfrm>
            <a:off x="8321040" y="4754880"/>
            <a:ext cx="1600109" cy="274320"/>
          </a:xfrm>
          <a:prstGeom prst="roundRect">
            <a:avLst>
              <a:gd name="adj" fmla="val 16667"/>
            </a:avLst>
          </a:prstGeom>
          <a:solidFill>
            <a:srgbClr val="E08A1E"/>
          </a:solidFill>
          <a:ln/>
        </p:spPr>
      </p:sp>
      <p:sp>
        <p:nvSpPr>
          <p:cNvPr id="32" name="Text 29"/>
          <p:cNvSpPr/>
          <p:nvPr/>
        </p:nvSpPr>
        <p:spPr>
          <a:xfrm>
            <a:off x="10954512" y="473659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61.4%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537960" y="52303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시사점  </a:t>
            </a:r>
            <a:pPr indent="0" marL="0">
              <a:buNone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기대는 상위 항목에 쏠림. 최하위 ‘데이터기반행정’ 가치는 커뮤니케이션 보강 검토.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40080" y="643737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경기도교육청 교육정보기록원  ·  정보자원 통합 만족도 일일 보고  ·  2026. 6. 26. 09:00 기준 (응답 57건)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현장 자유의견 (핵심 신호)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인프라 다음 과제 — 운영·응용·거버넌스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377440"/>
            <a:ext cx="274320" cy="27432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6" name="Text 4"/>
          <p:cNvSpPr/>
          <p:nvPr/>
        </p:nvSpPr>
        <p:spPr>
          <a:xfrm>
            <a:off x="1298448" y="2029968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8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“응용 유지관리도 통합해 주세요.”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28232" y="2377440"/>
            <a:ext cx="274320" cy="274320"/>
          </a:xfrm>
          <a:prstGeom prst="ellipse">
            <a:avLst/>
          </a:prstGeom>
          <a:solidFill>
            <a:srgbClr val="E08A1E"/>
          </a:solidFill>
          <a:ln/>
        </p:spPr>
      </p:sp>
      <p:sp>
        <p:nvSpPr>
          <p:cNvPr id="9" name="Text 7"/>
          <p:cNvSpPr/>
          <p:nvPr/>
        </p:nvSpPr>
        <p:spPr>
          <a:xfrm>
            <a:off x="6830568" y="2029968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8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“Itsm”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401568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3950208"/>
            <a:ext cx="274320" cy="27432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8448" y="3602736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8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“안정적인 서비스와 신속 정확한 장애처리에 대한 대응 방안을 마련해 주시고 사용하는…”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3401568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28232" y="3950208"/>
            <a:ext cx="274320" cy="274320"/>
          </a:xfrm>
          <a:prstGeom prst="ellipse">
            <a:avLst/>
          </a:prstGeom>
          <a:solidFill>
            <a:srgbClr val="13294B"/>
          </a:solidFill>
          <a:ln/>
        </p:spPr>
      </p:sp>
      <p:sp>
        <p:nvSpPr>
          <p:cNvPr id="15" name="Text 13"/>
          <p:cNvSpPr/>
          <p:nvPr/>
        </p:nvSpPr>
        <p:spPr>
          <a:xfrm>
            <a:off x="6830568" y="3602736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8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“정보시스템 개발 및 사용의 유용성”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074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 19/57명  </a:t>
            </a:r>
            <a:pPr indent="0" marL="0">
              <a:buNone/>
            </a:pPr>
            <a:r>
              <a:rPr lang="en-US" sz="12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형식적 응답 제외 후 발췌. 방향은 운영 성숙도(ITSM)·응용 통합·거버넌스로 수렴.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643737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경기도교육청 교육정보기록원  ·  정보자원 통합 만족도 일일 보고  ·  2026. 6. 26. 09:00 기준 (응답 57건)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관점별 종합 진단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사업관리 · 기술 · 비즈니스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3294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사업관리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추진·일정·참여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306324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인지도 100%, 7/1 전환 인지 98.2% — 전환 직전 준비도 양호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전반 만족 4.62, 불만 0건 — 추진 성과 자체는 긍정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리스크: 응답 57건으로 표본 작음 / 미참여층 응답 확보 점검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429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0574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0A7D78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057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772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성능·안정화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36008" y="306324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TRN·MSA·CMS 전환 후 만족 4.4~4.8 — 안정화 성공적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 등 트래픽 집중 업무 무중단 운영 확인(MSA)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과제: 응용 유지관리·ITSM·통합관제 등 운영 성숙도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4290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05740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E08A1E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0574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비즈니스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21040" y="2606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가치·업무효과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39328" y="306324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보안·예산·업무경감 기대 高 → 운영 효율 기대 뚜렷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데이터기반행정 가치 체감 低 → 미래 비전 공감 부족</a:t>
            </a:r>
            <a:endParaRPr lang="en-US" sz="1250" dirty="0"/>
          </a:p>
          <a:p>
            <a:pPr marL="177800" indent="-177800">
              <a:lnSpc>
                <a:spcPts val="16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현업(비전산) 사용자 목소리 부족 → 효과 검증 한계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643737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경기도교육청 교육정보기록원  ·  정보자원 통합 만족도 일일 보고  ·  2026. 6. 26. 09:00 기준 (응답 57건)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C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AA6A0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결론 재점검 · 리스크 &amp; 빠진 부분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수치는 좋다 — 그러나 ‘누가 답했나·무엇이 빠졌나’를 함께 보고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457200" cy="457200"/>
          </a:xfrm>
          <a:prstGeom prst="ellipse">
            <a:avLst/>
          </a:prstGeom>
          <a:solidFill>
            <a:srgbClr val="0AA6A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63040" y="1792224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‘만족도’ 수치를 액면대로 읽지 말 것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4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응답자 다수가 전산(86%) — 운영 주체의 자기평가 성격. 긍정 편향 가능.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679192"/>
            <a:ext cx="457200" cy="457200"/>
          </a:xfrm>
          <a:prstGeom prst="ellipse">
            <a:avLst/>
          </a:prstGeom>
          <a:solidFill>
            <a:srgbClr val="0AA6A0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63040" y="2642616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표본 작은 영역 일반화 금지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4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10명 미만(MSA 4·CMS 7 등)은 ‘한정 참고치’로 명시.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529584"/>
            <a:ext cx="457200" cy="457200"/>
          </a:xfrm>
          <a:prstGeom prst="ellipse">
            <a:avLst/>
          </a:prstGeom>
          <a:solidFill>
            <a:srgbClr val="0AA6A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529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63040" y="34930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데이터기반행정 가치, 현장 공감 최저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4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통합의 장기 명분(데이터 연계 행정)이 체감 안 됨. 전환 후 비전·활용 사례 커뮤니케이션 보강 필요.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379976"/>
            <a:ext cx="457200" cy="457200"/>
          </a:xfrm>
          <a:prstGeom prst="ellipse">
            <a:avLst/>
          </a:prstGeom>
          <a:solidFill>
            <a:srgbClr val="0AA6A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63040" y="4343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과제는 ‘인프라’가 아니라 ‘운영·응용·거버넌스’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4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자유의견이 ITSM·응용 통합·전담 조율조직·협력강화로 수렴. 7/1 전담관리 개시 후 운영 SLA·협업체계가 실제 만족 좌우.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5230368"/>
            <a:ext cx="457200" cy="457200"/>
          </a:xfrm>
          <a:prstGeom prst="ellipse">
            <a:avLst/>
          </a:prstGeom>
          <a:solidFill>
            <a:srgbClr val="0AA6A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230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63040" y="5193792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빠진 데이터 (분모·미참여층·추이)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4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모집단 대비 응답률 미상 → 57건 대표성 판단 제한. 무응답층 잠재 불만·일자별 추이 추가 집계 권장.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경기도교육청 교육정보기록원 · 정보자원 통합 만족도 일일 보고 · 2026. 6. 26. 09:00 기준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정보자원 통합 만족도 조사 일일 보고</dc:title>
  <dc:subject>PptxGenJS Presentation</dc:subject>
  <dc:creator>경기도교육청</dc:creator>
  <cp:lastModifiedBy>경기도교육청</cp:lastModifiedBy>
  <cp:revision>1</cp:revision>
  <dcterms:created xsi:type="dcterms:W3CDTF">2026-06-26T00:24:28Z</dcterms:created>
  <dcterms:modified xsi:type="dcterms:W3CDTF">2026-06-26T00:24:28Z</dcterms:modified>
</cp:coreProperties>
</file>